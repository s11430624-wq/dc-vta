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7ce8d7228fa4b4e" Type="http://schemas.openxmlformats.org/officeDocument/2006/relationships/extended-properties" Target="docProps/app.xml"/><Relationship Id="R84886d61daa546e5" Type="http://schemas.openxmlformats.org/package/2006/relationships/metadata/core-properties" Target="docProps/core.xml"/><Relationship Id="Ra3a9a0a691e243b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78ac4ca2e409d"/>
  </p:sldMasterIdLst>
  <p:notesMasterIdLst>
    <p:notesMasterId xmlns:r="http://schemas.openxmlformats.org/officeDocument/2006/relationships" r:id="R0013f029ba0e4436"/>
  </p:notesMasterIdLst>
  <p:sldIdLst>
    <p:sldId xmlns:r="http://schemas.openxmlformats.org/officeDocument/2006/relationships" id="256" r:id="R9608a288890e40c7"/>
    <p:sldId xmlns:r="http://schemas.openxmlformats.org/officeDocument/2006/relationships" id="257" r:id="R2327bd3629f8473d"/>
    <p:sldId xmlns:r="http://schemas.openxmlformats.org/officeDocument/2006/relationships" id="258" r:id="R5e3d4967a8fb4d90"/>
    <p:sldId xmlns:r="http://schemas.openxmlformats.org/officeDocument/2006/relationships" id="259" r:id="R411f52de90514d6b"/>
    <p:sldId xmlns:r="http://schemas.openxmlformats.org/officeDocument/2006/relationships" id="260" r:id="Rb08de3cd7afc4ee7"/>
    <p:sldId xmlns:r="http://schemas.openxmlformats.org/officeDocument/2006/relationships" id="261" r:id="Rb6b9e6fba574400e"/>
    <p:sldId xmlns:r="http://schemas.openxmlformats.org/officeDocument/2006/relationships" id="262" r:id="R01fa4121102141ea"/>
    <p:sldId xmlns:r="http://schemas.openxmlformats.org/officeDocument/2006/relationships" id="263" r:id="R27940a4794154b2b"/>
    <p:sldId xmlns:r="http://schemas.openxmlformats.org/officeDocument/2006/relationships" id="264" r:id="Rdf6cd7fcfe9d43bf"/>
    <p:sldId xmlns:r="http://schemas.openxmlformats.org/officeDocument/2006/relationships" id="265" r:id="R052ec7ceb5cb4bdb"/>
    <p:sldId xmlns:ns0="http://schemas.openxmlformats.org/officeDocument/2006/relationships" id="266" ns0:id="rId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013f029ba0e4436" Type="http://schemas.openxmlformats.org/officeDocument/2006/relationships/notesMaster" Target="notesMasters/notesMaster1.xml"/><Relationship Id="R01fa4121102141ea" Type="http://schemas.openxmlformats.org/officeDocument/2006/relationships/slide" Target="slides/slide7.xml"/><Relationship Id="R052ec7ceb5cb4bdb" Type="http://schemas.openxmlformats.org/officeDocument/2006/relationships/slide" Target="slides/slide10.xml"/><Relationship Id="R1f3f075b12684c49" Type="http://schemas.openxmlformats.org/officeDocument/2006/relationships/tableStyles" Target="tableStyles.xml"/><Relationship Id="R2327bd3629f8473d" Type="http://schemas.openxmlformats.org/officeDocument/2006/relationships/slide" Target="slides/slide2.xml"/><Relationship Id="R27940a4794154b2b" Type="http://schemas.openxmlformats.org/officeDocument/2006/relationships/slide" Target="slides/slide8.xml"/><Relationship Id="R411f52de90514d6b" Type="http://schemas.openxmlformats.org/officeDocument/2006/relationships/slide" Target="slides/slide4.xml"/><Relationship Id="R50e78ac4ca2e409d" Type="http://schemas.openxmlformats.org/officeDocument/2006/relationships/slideMaster" Target="slideMasters/slideMaster1.xml"/><Relationship Id="R5e3d4967a8fb4d90" Type="http://schemas.openxmlformats.org/officeDocument/2006/relationships/slide" Target="slides/slide3.xml"/><Relationship Id="R9608a288890e40c7" Type="http://schemas.openxmlformats.org/officeDocument/2006/relationships/slide" Target="slides/slide1.xml"/><Relationship Id="Rb08de3cd7afc4ee7" Type="http://schemas.openxmlformats.org/officeDocument/2006/relationships/slide" Target="slides/slide5.xml"/><Relationship Id="Rb6b9e6fba574400e" Type="http://schemas.openxmlformats.org/officeDocument/2006/relationships/slide" Target="slides/slide6.xml"/><Relationship Id="Rd52d71506ce84793" Type="http://schemas.openxmlformats.org/officeDocument/2006/relationships/theme" Target="theme/theme1.xml"/><Relationship Id="Rdd4e3522877f4453" Type="http://schemas.openxmlformats.org/officeDocument/2006/relationships/viewProps" Target="viewProps.xml"/><Relationship Id="Rdf6cd7fcfe9d43bf" Type="http://schemas.openxmlformats.org/officeDocument/2006/relationships/slide" Target="slides/slide9.xml"/><Relationship Id="Re121f6f832d54fae" Type="http://schemas.openxmlformats.org/officeDocument/2006/relationships/presProps" Target="presProp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16d9ccb6a524443d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14e130372c4341" Type="http://schemas.openxmlformats.org/officeDocument/2006/relationships/slide" Target="../slides/slide1.xml"/><Relationship Id="R31bfa3ab90a84c1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95ec9d947614e2b" Type="http://schemas.openxmlformats.org/officeDocument/2006/relationships/slide" Target="../slides/slide2.xml"/><Relationship Id="Red9d1e1577c843f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d7179de88444658" Type="http://schemas.openxmlformats.org/officeDocument/2006/relationships/slide" Target="../slides/slide3.xml"/><Relationship Id="Rdc61e1c95cee43b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3006d7778454067" Type="http://schemas.openxmlformats.org/officeDocument/2006/relationships/notesMaster" Target="../notesMasters/notesMaster1.xml"/><Relationship Id="Rb3ff976461e7474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e29e4f79d8841ca" Type="http://schemas.openxmlformats.org/officeDocument/2006/relationships/slide" Target="../slides/slide5.xml"/><Relationship Id="R5073ad1b79884e2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45607ec9c144988" Type="http://schemas.openxmlformats.org/officeDocument/2006/relationships/slide" Target="../slides/slide6.xml"/><Relationship Id="R6320dcc4238544a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6c7019ac0f54247" Type="http://schemas.openxmlformats.org/officeDocument/2006/relationships/notesMaster" Target="../notesMasters/notesMaster1.xml"/><Relationship Id="R4f3db706942b43c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4549699bfe84676" Type="http://schemas.openxmlformats.org/officeDocument/2006/relationships/slide" Target="../slides/slide8.xml"/><Relationship Id="Rb46d3fa33cc84f1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80a71ccef0b4ecb" Type="http://schemas.openxmlformats.org/officeDocument/2006/relationships/notesMaster" Target="../notesMasters/notesMaster1.xml"/><Relationship Id="Rac506c05e8bf4cd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9216d9172b34fc2" Type="http://schemas.openxmlformats.org/officeDocument/2006/relationships/notesMaster" Target="../notesMasters/notesMaster1.xml"/><Relationship Id="R8b0e1f99752f4689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65c06c1e40044724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3fd6142de814f3d" Type="http://schemas.openxmlformats.org/officeDocument/2006/relationships/slideLayout" Target="../slideLayouts/slideLayout2.xml"/><Relationship Id="Rbfc10f5f4d984ee0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d6142de81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62b3ce82c1084092" Type="http://schemas.openxmlformats.org/officeDocument/2006/relationships/slideLayout" Target="../slideLayouts/slideLayout2.xml"/><Relationship Id="Ra011dbd186d247eb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23dd9af6a4545bc" Type="http://schemas.openxmlformats.org/officeDocument/2006/relationships/notesSlide" Target="../notesSlides/notesSlide2.xml"/><Relationship Id="R7e8c60153c704feb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31e749211bb448e2" Type="http://schemas.openxmlformats.org/officeDocument/2006/relationships/slideLayout" Target="../slideLayouts/slideLayout2.xml"/><Relationship Id="Rd1cdf96a024a456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d54e2a7f3ce942e9" Type="http://schemas.openxmlformats.org/officeDocument/2006/relationships/notesSlide" Target="../notesSlides/notesSlide4.xml"/><Relationship Id="Re50840f3a00b4c9c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5dcf568de73c47db" Type="http://schemas.openxmlformats.org/officeDocument/2006/relationships/notesSlide" Target="../notesSlides/notesSlide5.xml"/><Relationship Id="R80fa53b22535452e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441347c7c7ed45c5" Type="http://schemas.openxmlformats.org/officeDocument/2006/relationships/notesSlide" Target="../notesSlides/notesSlide6.xml"/><Relationship Id="Rf0f2e1bab7884520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85388f824e264e66" Type="http://schemas.openxmlformats.org/officeDocument/2006/relationships/slideLayout" Target="../slideLayouts/slideLayout2.xml"/><Relationship Id="Rf8754aee5077436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262eac169e3483a" Type="http://schemas.openxmlformats.org/officeDocument/2006/relationships/slideLayout" Target="../slideLayouts/slideLayout2.xml"/><Relationship Id="Rc14811dfe90a4d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663b3d592c624ec1" Type="http://schemas.openxmlformats.org/officeDocument/2006/relationships/notesSlide" Target="../notesSlides/notesSlide9.xml"/><Relationship Id="Re5a1cc2015ab484c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22417a316a8f4d00" Type="http://schemas.openxmlformats.org/officeDocument/2006/relationships/notesSlide" Target="../notesSlides/notesSlide10.xml"/><Relationship Id="Rb64b6850115a45f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5E8D9-0C94-4C57-8C72-E13FCF7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AB5E-84B7-4772-BDB0-E00A679E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6C95B-DA95-4056-8575-C26F3F62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E585-E7AB-4413-82D1-AB50C98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AI助教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F5953-7FA3-4644-A30A-B773409D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把出題、作答、批改與統計集中成一條課堂測驗流程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A661F-2AD4-420B-A3BC-49315E01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老師/課堂報告用簡報素材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7155-AFCF-4855-A881-C89DFF27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BA364-EBBA-4BA3-A798-6515129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969B1-6340-4985-B44A-57C413B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出題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D7D3C-92FA-45CA-9A28-402E5F5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/ask 或 /batch_generate 先產生草稿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59C23-DBB1-4CF2-B722-70E7850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3261D-D02E-4B36-9FCB-45FB673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39DC5-FE49-45CE-B5BA-AA66CF5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開題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1B92D-FEBA-4265-885B-6ADF4D3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/open 在 Discord 發佈作答介面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373A5-DD75-4B3C-AB02-5ADFBF3A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826C1-A288-41C3-9BA4-C77FBA0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1ED0-D2B0-4F63-9A9A-1704F3C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9F382-1DCB-46DE-AAA3-E48F374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選擇題即時判定，短答題待批改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D8904-D1F5-4DCA-BA40-6BD3789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EDC49-9BB2-45CB-9D01-E3201B8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885AC-81E7-4272-A401-7152371D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批改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1CBC9-DBC1-4052-A372-8874423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Dashboard 接 deep link 完成短答批改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E7263-CCC1-4C96-945F-9789049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76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3B63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5C18F-835A-40A1-9269-F3EA297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525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Bot + Dashboard + Supabase + AI grading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F191D-D057-41A2-9D24-6E2B2642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來源：repo 文件與老師操作手冊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E086C-87CC-46D0-83E3-599E9231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94589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72589-E74E-41D3-B5AB-036BB71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DAF8DA0-A474-4573-B576-6E3E184F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D91B7196-2F14-4027-8AED-1D83789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WHY IT EXISTS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29F10-02D0-45EB-BDB2-3CDCA324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這套系統要解決的是課堂流程分散，而不是只新增聊天機器人。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C021A-2CE4-4944-9D9F-737B8AD9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把老師日常操作整理成可回歸、可批改、可查統計的閉環。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423C3-275B-4AD6-9F08-9ED5376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D02CF-F5D6-4449-ACB1-8B546B8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原本容易分散的事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F3DFF-8163-44F4-8C29-E6366F14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61DED-740B-4E00-9106-5BD2CA7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老師出題、開題、收答分散在不同工具。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B669D-D983-4FE1-9377-AA337C2D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BF8D0-6501-40C4-8021-FB4CC59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短答題提交後，需要另外整理待批改名單。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14FFB-ECC7-44A7-8C52-A1FB795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566B5-C92F-4EE8-BD45-AC443CE8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排行榜與答題狀態不容易在同一入口查看。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B90A4-63F6-4723-A49A-4D84BE84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18A38-0BFF-42E4-B457-DFE621F8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正式上課前需要反覆確認權限、網址與資料庫。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43AF8-6704-43CA-87B7-A5C756D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E74E6-69C2-4263-96DE-8FD7A909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現在集中成一條線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997AF-1F81-49A3-928D-C9BE9D4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99CB8-6F31-4A1D-8C1C-D90F40F2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Bot 負責出題、開題、收答案。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5CB22-339D-4679-8F37-C07D427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E5073-CDD4-4163-8324-9A526124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 負責短答批改與分析。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B2711-F8D7-4D33-82AD-5D23170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7BABF-F417-44AB-9D62-2949C2C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767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 保存題庫、使用者與作答紀錄。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B5C30-AD90-4417-A163-9E5120B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5BFB9-F54A-4B50-87B5-34FB34DF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用於出題草稿與批改輔助，不取代老師確認。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1B345-4396-4B4F-A2AD-E2820ED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1628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99E8-26CA-46F4-9CF8-1AFB707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18343-F3BC-4EFA-840F-74994572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課堂測驗閉環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D93E1-C9BA-4A7B-9613-92DFCF5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576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出題 &gt; 作答 &gt; 批改 &gt; 統計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25C235-F42D-41F6-AC54-00002F34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來源：README.md、docs/TEACHER_MANUAL.md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6E48F-62F2-4012-9AA4-C47CF86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2849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2C4E6-61D9-489E-AABC-F06EF28B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41722B70-A2BC-4945-9C49-18638790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2A8C868-5F04-4D9E-82B1-DA3CFA9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EF6DC-E551-4C42-9928-B3BF45D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Bot、Dashboard、Supabase 與 AI 服務分工清楚，降低教學日操作成本。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EBB05-3EA5-46E2-B286-0FAF07A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Bot 管課堂入口，Dashboard 管批改與分析，資料庫作為共同狀態來源。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2F10D-332E-45D9-8F98-7CEC51D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16417-757B-41DC-AC90-717A861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29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指令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83D6B-2DE9-43B7-8717-DC606B7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2152-0968-43DF-9DB1-72803B90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29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學生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作答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0A103-F8B7-4ED0-9A7A-7F140258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2188F-EB69-41F8-BBAF-CD28259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Bot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Node.js / slash commands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DBB0B-A303-499B-9150-922144C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6BBB4-BB3E-451E-8892-DDC1271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2171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question_bank / users /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quiz_responses / guild_settings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E70ED-417F-4B9E-B2D5-39E05A7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57EF9-FC9B-4DBF-B047-DAF6E69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67300"/>
            <a:ext cx="2171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短答批改 / 分析 / Discord 設定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FD931-2512-4626-97A2-D669664D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E5127-57B1-4873-9E7A-EC915CA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服務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出題草稿 / AI 輔助批改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249AF-FB80-4A7F-BF87-458177F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C7164-797F-4155-A043-3E9A4BC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7BAEA-9233-4C7A-BD24-C0FF0BE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B25CC-7776-46F4-B90D-92B63C63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655E3-378D-4BF4-B3CC-1F690CE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19AC5-5F0C-4949-9C50-1150AEB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A7CBA-09A8-4CB8-AE72-F5213EC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100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86259-E34F-44E2-8D5D-1155117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57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E0932-4311-4177-9B5F-599D07D1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2EC47-3D89-47D3-A081-B9D47C3F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D36B9E-A635-4434-A587-42B3B3E5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528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BCE2D-F929-4466-8AD2-54C0B42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CB637-F825-4632-842D-6963167C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479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出題 / 開題 / 收答案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23283-70CD-4774-94CF-FA9C28A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0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驗證身分 / 寫入答案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38394-2F9E-4062-8212-E638D77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共同資料狀態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05C3E7-F76C-4F8B-904D-421759C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deep link 批改入口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F9D7B-2595-4F0D-A0CD-D90B575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6240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草稿與批改建議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96391-7FBC-4CD1-9A01-F90F2E12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6515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FD9189-6E3E-4ACA-890B-DEA0C08E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62650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系統邊界：Bot 可使用 service role；前端只放 VITE_* client env。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F947F9-D2FF-412D-B1D9-F15F5CF8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來源：apps/bot/README.md、apps/dashboard/README.md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2846E8-C349-4E22-BBA5-79F50F0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72120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2CE3D-3071-4484-8229-12D5465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80F2F5A-96D1-4CAC-92C1-00D4A14B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6AAC0C6-07C8-488B-B593-C9D5EEA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TEACHER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52A85-C7F0-4F25-BA0E-4456397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老師出題先進草稿審核，再寫入題庫並開放作答。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A9686-E008-4563-87E5-A63B7B2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AI 產生的是草稿；按下同意建立後才會成為正式題目。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3C7AD-0F69-4CAD-9733-2B3CF65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61424-28B1-4201-A966-27AB57C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C821E-9AEB-4675-897A-99E6F7D5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44781-F097-41A7-B1DC-30E670D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/ask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批次出題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69216-97AB-44CB-AF06-0E64025C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43A29-FED3-4E5F-A121-A62E795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0A1DB-3F52-4BBF-B2F5-52E1E2A8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3C97B-1A98-47E2-95C1-1D29966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D8FDF-DB7E-4165-9784-DEE4C906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1624D-3FAE-40D3-A539-040DEC7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Bot 回傳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題目草稿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99AB9-AA33-43CC-B63A-998FBB70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AF13D-D786-4A60-B615-90A0F6B2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CCCCF-0CEC-4C3B-B646-9E3307F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72AE-AACC-43E7-80CB-DEAFF50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3E368-25C9-45AE-A46A-117DFBA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4AB63-6BC7-45D4-B1FB-F10A8F5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我要修改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或同意建立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EC3AE-40DB-4C9E-A947-7B7BC72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7A3E0-D1F4-408F-B18F-54C46C0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5354A-FCF9-4CD9-A893-36AADFE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FC431-E82E-4FE7-A611-0F8B67B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89D58-1041-476C-A50A-E5ED57BF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8665B-1410-48DD-A1C1-0551702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寫入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26C43-08B0-4606-901C-D6335B4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5BA6F-2CB4-458B-BDF0-F3132D5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6588A-37CF-427E-A151-7F5D6ACD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79270-C4F2-403D-9382-574B29E9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C5FDE-06C6-4C70-8057-24DA1358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53B91-85AC-4FF0-B1E1-9E89E8D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/open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開放作答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D7DF0-E180-4673-BA8B-AFA26729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含 /batch_generate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45BAF7-AE73-4FE0-B27D-4FA972D9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保留老師確認權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D7233-772B-4FAE-8AAE-E5CE84D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可修訂後再建立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164673-0CAC-4CC2-A9BB-8D4C2C3F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question_bank / 題目 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90941-CD4D-405D-B7EB-60A01FF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Discord 發佈 UI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8E51CF-54F8-429F-A5E4-A36FC0A5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C6ED8-44FB-4067-AE9B-5A478F2E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912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設計重點：老師用 AI 降低出題時間，但流程仍保留「草稿 -&gt; 確認 -&gt; 寫入」的人工把關。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1CEE1-3CF9-4358-B395-090B2B10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來源：docs/TEACHER_MANUAL.md、docs/OPS_MANUAL.md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1F58CF-1C52-4AAB-B96C-A96C5BD2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99079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C6759B-D846-453C-AF16-1F7EB87C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F54823B-BD84-4118-87A0-FCE62E2B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0E08902-AC11-438F-80D5-A5147B55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ANSWER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B792D-EF9F-4F4B-ABC7-5F29288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學生作答統一寫入 quiz_responses，選擇題與短答題走不同判定路徑。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27E96-8615-4896-85FC-71D72D23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Bot 先驗證綁定身分，再依題型決定即時判定或等待批改。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1BD4-5CED-4E23-AF5B-6D08C63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A8699-33A3-474C-9191-A140CF88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/link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綁定學號與姓名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43B05-082E-444F-8056-011934C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DF2D-D629-4C24-89C9-6678FB3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AEF26-1FE5-4010-A04D-0A142C0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908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C8ED3-8EEE-4976-924B-0A116E63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/open 後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學生看到作答入口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9D76-B26D-4A45-ADEC-8C42DC5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DBF82-41A6-4A2E-8EA6-410CF8D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52AD3-EA1D-4B56-AA99-A80B5F8E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44360-9675-4AB7-88C9-E6165D6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題型分流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0360C-6257-4B7E-B533-865FEEC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862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DBB28-E12F-4CE9-B0E0-165596FA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171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66918-074C-4ACF-A3F2-D8C49D1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A7B1B-B440-4E38-9660-3D9A5EFB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3FD60-BD48-476C-8E36-645A765C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86E08-C904-4374-9FA5-16E75A4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20B5-1A8A-4663-9F80-D1B2C483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B1E59-F3ED-4F68-BC2D-43E5071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選擇題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按 A/B/C/D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4532C-5FDD-4D11-9FCD-4B2AF59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9FFA8-E5BB-49B2-B934-39AE4D2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提交短答 modal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5F3A4F-2F35-4485-8E2F-027275E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D18D5-D80F-4CEE-A2BE-3AB2F58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766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即時判定</a:t>
            </a:r>
          </a:p>
          <a:p xmlns:a="http://schemas.openxmlformats.org/drawingml/2006/main">
            <a:pPr algn="ctr">
              <a:def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correct / wrong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CE66F-6086-414F-96FF-35B2059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4B1A3-9A47-4D2A-AD8D-EBA7AF9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0289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D2CE5D-0DEA-4352-8D86-89DE8C5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705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2DFBF-323E-4945-A9D4-396F661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91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8A042-846B-4672-B5DB-A3E4F5A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054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842B1-10F7-47C4-A105-0A25D904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578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共同寫入：quiz_responses，以 user_id + question_id 保持同題作答狀態。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9DE51C-49D8-4C55-A2F2-6579AAFB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9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短答 status = pending，交由批改流程處理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ADDD4-A58C-48D0-A192-949AA084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來源：docs/OPS_MANUAL.md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426277-91A6-4652-AB4E-BE097EF6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79660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7576E-2DA0-4A0B-BC4D-47156C0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E956FCC-9C32-4633-8845-A66040D1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52F7D7F-875E-4655-8761-F33CFBE8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GRADING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CD37D-0AD0-422D-867E-07075DC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短答題透過 deep link 交給 Dashboard 批改，Bot 保持收答與導流角色。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12165-C44C-4308-8C0A-90C4661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老師不用在 Discord 內完成所有批改；Bot 只把正確的批改入口送到前端。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79B6B-DFB8-4007-B6C9-984021B1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668A2-78CE-4085-9A92-5855FEB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/check id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短答題提交數與批改連結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D0F7D-2777-4D34-A58A-A0B1C13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BD290-69C8-4037-8FC3-C745FEF1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/grading_queue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待批改清單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B1E37-01B2-4ED1-B5A1-0B07E06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C1BA9-C934-4EAB-82A6-40DEAD5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/grade_link id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指定題目批改頁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38AAA-A8A2-4F60-9C89-B54D7EB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C36A0-199B-4EA1-BB42-6066E340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B84FC-DB73-4CBB-9EEC-42244245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323FA-A69F-4D9D-9A7B-C1B623A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D497D-C400-406A-9CD1-CC994F2D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959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FF20D-70C3-4B36-91B9-A189F80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816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55917-D8CA-4279-87EE-C536546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2324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B1AB7-C10B-4303-8073-BD1114BC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Deep link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?tab=grading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&amp;status=pending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&amp;question_id 或 response_id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DD925-C447-4EA2-A4C7-0FA8206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3291B-0B71-4D18-BED1-461173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29E6F-2923-44DE-9BD0-9AC888D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BFBC0-0517-41F8-9176-BAD2878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自動切到簡答批改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395AD-D08C-4A33-AEBF-140E347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62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45D90-DE67-4C30-85BE-B8D07D11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29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1A347-7ECA-4B5C-9C08-907E408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6EE37-16AA-45C2-9BD6-1F29C953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老師批改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可搭配 AI 輔助建議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6E85C-3661-43E2-8FAE-A6C4D71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896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E3824-CEC4-4F13-A3B8-36C6529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626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Dashboard 負責批改與分析；Bot 負責收答案與導流。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F52C0-7A95-4C48-9779-0C973407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來源：apps/dashboard/README.md、docs/TEACHER_MANUAL.md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027C6-9A2A-4787-ACBE-3EDDC19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52110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D05A0-9036-4BC0-847E-E3DC09C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4190627C-E84C-4C75-A4F2-1B55F25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0F522843-CC2B-477E-9CDC-0822D0FC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ROLE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8A558-EF9F-4AFA-B1C6-3F1C31FA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指令設計把老師、學生與 AI 輔助能力切開，避免權限與資訊混在一起。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8E218-6258-43B1-85B6-34D3C76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老師指令需要權限；學生指令偏個人資料與作答；AI 功能保留在輔助層。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09A55-0DEF-4FE6-ACA7-F36B4331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A8920-3832-4197-ADB5-53CADDAE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9D6F-F55C-4A68-9B0C-A0ABE20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EEDEF-628E-4ACE-8318-E71014AD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可用入口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6162-8A82-4906-BD51-C9959D05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62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A92A1-34A8-4F04-ABAF-F639199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系統動作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54CBA-C9DF-42B4-8E96-56E876E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9F2FA-F02F-4F0E-A195-3213266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241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輸出/結果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177E2-5D54-4D95-A113-623F7722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A8433-EB42-429E-B5EC-D75931D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老師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6EE89-5921-4371-A042-5A712BEB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BA3CC-6DF5-4811-9024-ED6E621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/add /add_short /ask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/batch_generate /open /check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D5F4A-D105-4C22-992A-7E892DB3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9E8B5-813F-4AB6-8080-2CA3E02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99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建立題目、開放作答、查統計、取得批改入口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0D54A-3D0B-4048-BF8C-3FF47A2E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31CDA-FB5B-4CAF-A5D4-4B5690C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題目 ID、答題統計、批改連結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B3FAD-72B3-4EAF-85E2-65414A3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EF3F0-AF80-417A-A8FF-351697A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學生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08FBB-BAFE-4176-88EE-68D9C4F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BF41A-4849-483E-B1FB-3EFEA0A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/link、/me、/rank、/ask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08854-9AE8-4EFE-9E97-FA4B4E2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147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E89BF-26B4-4A75-8B0A-F29C327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481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綁定身分、查詢個人資料、作答與查看排名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DDF28-5C60-4870-9847-6ABF7DC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88EDD-91E4-413E-A794-861AED0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個人資料、排行榜、個人診斷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ABFBE-E2B7-4F58-B2A3-C539153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48BD6F-0D72-4AC2-B88D-43C9D07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AI 輔助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88825-624A-43E6-99A6-E5774A78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8F58E-7009-44BF-869E-2799A6A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題目草稿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批改 API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Agent 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CBC32-0607-4549-AEB9-21BF067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529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4E933A-29A2-44F5-90A0-2569888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863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提供草稿、批改建議與課堂觀察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99088-FC28-4C03-A033-626117C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08894-90A9-4CD0-8F02-29DA659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863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草稿內容、批改建議、複習方向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F52A90-BF4C-4798-921B-E0D0BAA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75F731-A13A-4771-AB38-5EBE5FA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系統資料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D2755-9E6F-475C-A31E-48E4352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9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F95E51-2472-4A91-9F5C-C543220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 tables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7B50F-9E79-4BF8-86E1-BEB9778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9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AB1C42-5654-4A08-9F2D-D071B99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245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保存題庫、使用者、作答與伺服器設定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F5E108-7275-4E8E-938F-544BA90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60FB39-4177-43CD-9EC1-7C16659F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245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question_bank / users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quiz_responses / guild_settings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D69E3D-3D0D-4960-AA4E-2B59F7D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24BF57-A331-46FB-9E8A-A65EA5B7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權限邊界：老師指令需通過 requireTeacher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CF2D54-3C35-4E36-9A71-BB0889A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來源：apps/bot/README.md、docs/OPS_MANUAL.md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F6351A-1E7E-452F-A163-6E79BC3E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2139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50F7F-7D3A-4F37-A2BE-8A53D95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70D0951A-7310-463E-926B-1CF9E56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C1E3C99-CA6C-4828-9674-41BD1EC9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64464-AF6E-4E19-85FD-67DCC21D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部署重點是把 Bot、Dashboard、資料庫與 AI 批改 API 的環境邊界守住。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47277-1CE9-473E-8B68-F3E92376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同一套系統可走正式前端，也可用 classroom:start 在老師電腦跑本機教學模式。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A5EE9-D14F-43E0-9E31-6F67249A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790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53CBA-4DDE-452E-A72E-80F74AB5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Node.js Bot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apps/bot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30235-F526-40D3-AD0E-9D408596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05A43-3013-432D-A8E2-BC86995C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Vue 3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80A51-53B5-40BE-8450-E36AE0C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F6488-7ED4-46E3-8D73-909B3AF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資料庫與登入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CE521-509C-441E-818F-FFA7900D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D0F80-605A-4761-A4AF-B45FA11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337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Grading API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/api/ai-grade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83E3D-A670-40A4-95E0-368A644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49D7B-AA01-478F-B317-4E1084A6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927AE-5AE0-43B8-A965-826C15FC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EAD06-FA32-4423-93E5-47A61D3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9A2D8-06AA-4501-826B-3616D59C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E52E-A181-455C-8643-0FE9E58E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24016-5825-4ABE-84A7-148AC27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E4BAB-A304-45B6-AB14-469D9E33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Bot server env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8A81F-CA33-43BB-B742-1BE50E2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DISCORD_TOKEN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DISCORD_CLIENT_ID / GUILD_ID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SUPABASE_SERVICE_ROLE_KEY 只放 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686BA-1018-4124-90FB-EEDAD83B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49F3C-4BEA-4B83-9ECB-88032F0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Frontend client env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0BD3D-0669-48FE-AAFF-1A43B65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VITE_SUPABASE_URL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VITE_SUPABASE_ANON_KEY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前端不放 service 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E0071-F1B6-4EB2-9AFC-6ED4EF76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3B0B4-EC49-4FDF-BF3A-41069DD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Classroom launcher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9D84F-F964-4CDC-8383-6137D006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768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npm run classroom:start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同時啟動 Bot、Dashboard、AI API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本機網址由 launcher 覆寫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1B6CB-DFDE-466E-9B0E-50F816E7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來源：README.md、apps/dashboard/README.md、docs/BOT_DEPLOY_CHECKLIST.md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F63F5D-2752-4776-816E-A308174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155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F7DB8-16B9-4B40-8F77-2BC35E5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EAABA1D0-1DE0-4D25-AEE5-68DA2B3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6CA5003-38B0-479E-86DB-9B6924E2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CLASSROOM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36CA1-E05B-4F37-B8E1-DA0AB9F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上課前檢查聚焦在可用性與風險：權限、網址、資料庫、回歸流程。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96624-78BC-4434-ACB5-EC7F680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這頁可以直接拆成上課前檢查表使用。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54864-4635-4A1A-A837-0AA516DE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4767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72466-CC22-4644-A23D-C6EC18A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上課前 7 項檢查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977DD-1F83-461F-AA17-BB75AB1C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F9C39-831D-49BC-AB28-AB9A9318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Bot 已啟動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412D0-9677-4C1C-98F1-4F11AB4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6D627-ABB4-4D13-9826-3238ABC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 可登入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9D1E0-AE03-4699-BC8A-330B15C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4642F-8A8A-4783-84CF-F6C6B08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/help 正常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D4DA5-8A29-4F75-A0CE-DD835730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65F55-AD60-4E2C-9A12-44C7AC99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/grading_queue 正常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1B284-134E-4242-89B4-3B90AE1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EF15B-BF36-4FAF-9391-F4A2BF43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用一題測 /open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3A088-0801-41CE-90C6-CC427B0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43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77334-E288-4635-B798-6F6EF9A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用學生帳號測一次作答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174CD-EF6F-4682-8492-0B6240E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05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1F677-7364-4C1C-BA36-25E79934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387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用 /check 或批改頁確認資料有進資料庫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FF886-76F3-47DD-93A7-6EEED6E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2387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E73F1-84C8-4A78-9D26-CA9BB319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rPr>
              <a:t>主要風險與處理方式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D0089-8AA0-4A44-9312-BE9EF1E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783FF-D9DE-4E06-839C-582C25A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Token / 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D5FED-A1A0-45B4-9830-5B750EB4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只留在本機 env，不放簡報與前端。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A5BBF-C479-468E-9B16-17721BE4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65378-2699-46C1-9FB8-CEFBEAF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rPr>
              <a:t>老師權限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65B3C9-04F6-493A-9DAC-EA1CEEE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確認 TEACHER_ROLE_ID 或 guild_settings。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29E3A-0461-4190-8E30-C3CACDD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865D7-50BE-49FA-AD87-118A466A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前端網址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B14791-03D1-4453-B240-EFD440E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FRONTEND_BASE_URL 要指到支援 deep link 的 Dashboard。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89478-2BF2-4071-B40F-AEAF1FA9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ED6A7A-5FD4-4369-B7A5-D667696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rPr>
              <a:t>資料庫連線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F0E8DA-4360-4A94-B7E1-3388F2A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 URL/key 與 migrations 要一致。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37B33-9818-42D3-B49B-49FD31A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6562A1-47DD-4504-A3C3-3FFA2EF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81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功能回歸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4BAC91-560C-471A-9944-8C53380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依 SMOKE_TEST 檢查 /ask、/open、/check、/rank。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AF628-5924-471A-994B-1803800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來源：docs/TEACHER_MANUAL.md、docs/BOT_DEPLOY_CHECKLIST.md、docs/OPS_MANUAL.md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3F86F-0033-4204-8F9E-2FCB1E7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86276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A8089-7557-4CA2-A170-6AD4FCE2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300AE1A-ED58-4300-B4B6-99B73BB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B9E3335-A1C8-4078-ADA9-53DE33B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E966D-2C40-499B-80DD-79C5843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下一步應優先補多班級設定、分析洞察與 Agent 延伸，而不是大改穩定主流程。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297B9-96CB-424D-B94A-25D6782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先保留已驗證的課堂測驗閉環，再逐步擴充老師真正會用到的能力。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BECAA-E6BD-4430-911D-5ADBD1E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02C3E-9BD4-4984-8A92-83A44273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穩定主流程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2B3F6-BFA0-4705-84BB-6560B028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3885D-1C5D-4894-A914-F17E00D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1AA65-CA1A-4572-8A6E-ABCCA86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050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67990-6282-40A4-89BE-B701583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維持 /ask -&gt; /open -&gt; 作答 -&gt; /check -&gt; 批改的回歸測試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E0210-85ED-4B44-9B35-65211CDC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70CA4-3479-4296-995F-01A8E97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多班級管理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FED72-C91C-4CCA-B05C-297C0F88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337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627FE-CCBF-4C7B-83A2-C684A277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194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D2382-B670-4B75-B018-ED9F109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4E9B7-531B-44D2-8CF5-49FF76A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補齊 guild_settings 介面與每班老師角色、通知頻道設定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3E64A-1624-467B-B90C-5807AB4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2B693-BB18-417B-A841-36CC5A4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教學分析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47AA1-D86A-42FF-8813-463C819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481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42AFC-4650-4898-83AC-343B85F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C6AE8-D039-4958-90F1-317F684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338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381D6-EB5B-4238-A797-EABD5CB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把答對率、常錯題、待批改量整理成老師可讀摘要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0A2A2-BF38-4D57-BA9B-29FEB28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8BFB1-A15E-4EEB-B0A0-956DBA1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Agent 延伸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9EF0D-B5AE-430F-9210-4DEF6DA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62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4CB6D-B682-498A-BD60-682C5707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9A0B7-E784-4C46-8393-31DD986A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482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ADB81-F3CC-4757-B83A-430876A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在不暴露敏感資料的前提下加入頻道摘要、聯網研究與圖片生成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1495D-0AA6-4BB2-B560-B817CB46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91200"/>
            <a:ext cx="405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3B63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96F38-F09E-426D-8EF1-5E7E7C11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674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實作原則：先可用、再好用、最後再擴充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B7BB1-9EE3-4D06-95B8-72C53A0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可直接拆頁組裝：流程圖、架構圖、角色矩陣、部署檢查表都已獨立成頁。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B7503-4053-4F0C-8828-960C93C3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來源：repo docs 與既有功能邊界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43957B-8C2A-498B-9B0E-ED5308B4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19547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1F2A"/>
                </a:solidFill>
              </a:defRPr>
            </a:pPr>
            <a:r>
              <a:t>工具生態與技術棧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E5A6B"/>
                </a:solidFill>
              </a:defRPr>
            </a:pPr>
            <a:r>
              <a:t>Discord AI助教實作中使用的主要平台與開發工具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4C5E"/>
                </a:solidFill>
              </a:defRPr>
            </a:pPr>
            <a:r>
              <a:t>核心平台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4C5E"/>
                </a:solidFill>
              </a:defRPr>
            </a:pPr>
            <a:r>
              <a:t>開發與部署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76297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vicon_Dis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28" y="182880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834640"/>
            <a:ext cx="1893417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Discord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0385" y="1508760"/>
            <a:ext cx="2076297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vicon_n8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193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71825" y="2834640"/>
            <a:ext cx="1893417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n8n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7850" y="1508760"/>
            <a:ext cx="2076297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vicon_Sup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658" y="1828800"/>
            <a:ext cx="868680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49290" y="2834640"/>
            <a:ext cx="1893417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Supabase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5315" y="1508760"/>
            <a:ext cx="2076297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vicon_Google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123" y="182880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26755" y="2834640"/>
            <a:ext cx="1893417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Google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2780" y="1508760"/>
            <a:ext cx="2076297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vicon_Co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588" y="1828800"/>
            <a:ext cx="8686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04220" y="2834640"/>
            <a:ext cx="1893417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Codex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39"/>
            <a:ext cx="1696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vicon_VS_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940" y="4297679"/>
            <a:ext cx="868680" cy="868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5303519"/>
            <a:ext cx="151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VS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0808" y="3977639"/>
            <a:ext cx="1696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vicon_TypeScri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4828" y="4297679"/>
            <a:ext cx="868680" cy="868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92248" y="5303519"/>
            <a:ext cx="151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TypeScript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8696" y="3977639"/>
            <a:ext cx="1696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vicon_Nodej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2716" y="4297679"/>
            <a:ext cx="868680" cy="868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390136" y="5303519"/>
            <a:ext cx="151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Node.js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6584" y="3977639"/>
            <a:ext cx="1696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avicon_GitHu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0604" y="4297679"/>
            <a:ext cx="868680" cy="868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8024" y="5303519"/>
            <a:ext cx="151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GitHub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4472" y="3977639"/>
            <a:ext cx="1696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vicon_Verce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8492" y="4297679"/>
            <a:ext cx="868680" cy="868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85912" y="5303519"/>
            <a:ext cx="151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Vercel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92360" y="3977639"/>
            <a:ext cx="1696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vicon_Co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6380" y="4297679"/>
            <a:ext cx="868680" cy="8686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83800" y="5303519"/>
            <a:ext cx="151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A38"/>
                </a:solidFill>
              </a:defRPr>
            </a:pPr>
            <a:r>
              <a:t>OpenAI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6355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6"/>
                </a:solidFill>
              </a:defRPr>
            </a:pPr>
            <a:r>
              <a:t>*圖標來自各官方網站 favicon，商標權屬原品牌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2026-05-07T21:02:17.4630000Z</dcterms:created>
  <dcterms:modified xsi:type="dcterms:W3CDTF">2026-05-07T21:02:17.4630000Z</dcterms:modified>
</coreProperties>
</file>